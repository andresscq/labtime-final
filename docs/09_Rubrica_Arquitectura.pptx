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8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8872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 CONTRA LA RÚBRICA P01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4360" y="2560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</a:t>
            </a:r>
            <a:endParaRPr lang="en-US" sz="4600" dirty="0"/>
          </a:p>
        </p:txBody>
      </p:sp>
      <p:sp>
        <p:nvSpPr>
          <p:cNvPr id="55" name="Text 53"/>
          <p:cNvSpPr/>
          <p:nvPr/>
        </p:nvSpPr>
        <p:spPr>
          <a:xfrm>
            <a:off x="5943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LabTime — criterios 3.1 a 3.6, punto por punto, con el archivo que lo demuestra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4360" y="4023360"/>
            <a:ext cx="29260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4251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 · PUCE · Kotlin + Spring Boot 4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criterios · 8 puntos totales de la sección 3 de la rúbrica P01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Pinduisaca y [Nombre del compañero/a] · NRC 1462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1/9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43000" y="6126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CRITERIOS DE ESTA SECCIÓN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731520"/>
                <a:gridCol w="62179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evalúa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A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datos y dominio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Entidades, relaciones 1:N, coherencia diseño-código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A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Organización en capas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Controller/Service/Repository/DTO/Mapper separados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A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 de negocio y manejo de errores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Validaciones, excepciones propias, códigos HTTP correctos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A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y legibilidad del código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Nombres expresivos, Kotlin idiomático, sin duplicación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A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unitarias y funcionales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válidos e inválidos, mocks, aserciones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5A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y Autorización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JWT/Cognito, rutas públicas/privadas, rol y propiedad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</a:tbl>
          </a:graphicData>
        </a:graphic>
      </p:graphicFrame>
      <p:sp>
        <p:nvSpPr>
          <p:cNvPr id="55" name="Shape 52"/>
          <p:cNvSpPr/>
          <p:nvPr/>
        </p:nvSpPr>
        <p:spPr>
          <a:xfrm>
            <a:off x="548640" y="5532120"/>
            <a:ext cx="11109960" cy="502920"/>
          </a:xfrm>
          <a:prstGeom prst="rect">
            <a:avLst/>
          </a:prstGeom>
          <a:solidFill>
            <a:srgbClr val="FFF4EC"/>
          </a:solidFill>
          <a:ln w="12700">
            <a:solidFill>
              <a:srgbClr val="C9840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puntos — las siguientes 6 láminas muestran la evidencia de código de cada uno.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2/9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43000" y="6126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DOMINIO</a:t>
            </a:r>
            <a:endParaRPr lang="en-US" sz="2500" dirty="0"/>
          </a:p>
        </p:txBody>
      </p:sp>
      <p:sp>
        <p:nvSpPr>
          <p:cNvPr id="54" name="Shape 52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55" name="Text 53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PT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"Entidades bien identificadas, relaciones correctas (1:N, N:M) y coherencia entre diseño e implementación."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1874520"/>
            <a:ext cx="539496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2983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1874520"/>
            <a:ext cx="5394960" cy="384048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187452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ENTIDADES DE DOMINIO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13232" y="2377440"/>
            <a:ext cx="50657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rooms — sala/laboratorio (STAFF)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time_slots — horario de una sala, FK real room_id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bookings — reserva, FK lógica slot_id (cross-service)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equipment_requests — FK real booking_id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Ninguna es users/roles (viven en Cognito)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172200" y="1874520"/>
            <a:ext cx="539496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1B5A6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1874520"/>
            <a:ext cx="5394960" cy="384048"/>
          </a:xfrm>
          <a:prstGeom prst="rect">
            <a:avLst/>
          </a:prstGeom>
          <a:solidFill>
            <a:srgbClr val="1B5A6E"/>
          </a:solidFill>
          <a:ln/>
        </p:spPr>
      </p:sp>
      <p:sp>
        <p:nvSpPr>
          <p:cNvPr id="63" name="Text 61"/>
          <p:cNvSpPr/>
          <p:nvPr/>
        </p:nvSpPr>
        <p:spPr>
          <a:xfrm>
            <a:off x="6281928" y="187452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RELACIONES 1:N IMPLEMENTADAS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336792" y="2377440"/>
            <a:ext cx="50657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rooms 1 → N time_slots (misma BD, FK SQL real)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time_slots 1 → N bookings (entre microservicios, FK lógica validada por HTTP)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bookings 1 → N equipment_requests (misma BD, FK SQL real)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Archivo: entities/*.kt en ambos microservicios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3/9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43000" y="6126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EN CAPAS</a:t>
            </a:r>
            <a:endParaRPr lang="en-US" sz="2500" dirty="0"/>
          </a:p>
        </p:txBody>
      </p:sp>
      <p:sp>
        <p:nvSpPr>
          <p:cNvPr id="54" name="Shape 52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55" name="Text 53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PTS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"Separación correcta en controller, service, repository, con DTOs, mappers y entities. Cada capa asume solo su responsabilidad."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1874520"/>
            <a:ext cx="2651760" cy="6858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91840" y="1874520"/>
            <a:ext cx="8366760" cy="6858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1874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JWT → delega. Cero lógica.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48640" y="2670048"/>
            <a:ext cx="2651760" cy="685800"/>
          </a:xfrm>
          <a:prstGeom prst="rect">
            <a:avLst/>
          </a:prstGeom>
          <a:solidFill>
            <a:srgbClr val="1B5A6E"/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26700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291840" y="2670048"/>
            <a:ext cx="8366760" cy="6858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0" y="26700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lógica de negocio y propiedad.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548640" y="3465576"/>
            <a:ext cx="2651760" cy="6858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346557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repositories/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291840" y="3465576"/>
            <a:ext cx="8366760" cy="6858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0" y="346557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JpaRepository, sin lógica.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48640" y="4261104"/>
            <a:ext cx="2651760" cy="6858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70" name="Text 68"/>
          <p:cNvSpPr/>
          <p:nvPr/>
        </p:nvSpPr>
        <p:spPr>
          <a:xfrm>
            <a:off x="548640" y="426110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entities/ + dto/ + mappers/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291840" y="4261104"/>
            <a:ext cx="8366760" cy="6858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0" y="426110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datos, nunca se mezclan.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548640" y="5056632"/>
            <a:ext cx="265176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" y="5056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exceptions/ + config/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291840" y="5056632"/>
            <a:ext cx="8366760" cy="6858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0" y="50566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globales y seguridad, aparte de todo lo demás.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548640" y="5852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concreto: BookingController.create() no valida nada — solo extrae jwt.username() y llama a bookingService.create(). Toda la validación vive en BookingService.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4/9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43000" y="6126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Y ERRORES</a:t>
            </a:r>
            <a:endParaRPr lang="en-US" sz="2500" dirty="0"/>
          </a:p>
        </p:txBody>
      </p:sp>
      <p:sp>
        <p:nvSpPr>
          <p:cNvPr id="54" name="Shape 52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55" name="Text 53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PTS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"Cumplimiento de reglas del dominio, validaciones y manejo de excepciones consistente. Respuestas HTTP adecuadas."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1874520"/>
            <a:ext cx="2697480" cy="1828800"/>
          </a:xfrm>
          <a:prstGeom prst="rect">
            <a:avLst/>
          </a:prstGeom>
          <a:solidFill>
            <a:srgbClr val="F5F9FA"/>
          </a:solidFill>
          <a:ln w="15875">
            <a:solidFill>
              <a:srgbClr val="2983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685800" y="2606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RoomNotFoundException, BookingNotFoundException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10712" y="1874520"/>
            <a:ext cx="2697480" cy="1828800"/>
          </a:xfrm>
          <a:prstGeom prst="rect">
            <a:avLst/>
          </a:prstGeom>
          <a:solidFill>
            <a:srgbClr val="F5F9FA"/>
          </a:solidFill>
          <a:ln w="15875">
            <a:solidFill>
              <a:srgbClr val="C984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10712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3547872" y="2606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InvalidTimeRangeException, SlotNotAvailableException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72784" y="1874520"/>
            <a:ext cx="2697480" cy="1828800"/>
          </a:xfrm>
          <a:prstGeom prst="rect">
            <a:avLst/>
          </a:prstGeom>
          <a:solidFill>
            <a:srgbClr val="F5F9F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72784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6409944" y="2606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NotYourBookingException — lanzada por el SERVICE, no por Security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134856" y="1874520"/>
            <a:ext cx="2697480" cy="1828800"/>
          </a:xfrm>
          <a:prstGeom prst="rect">
            <a:avLst/>
          </a:prstGeom>
          <a:solidFill>
            <a:srgbClr val="F5F9F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34856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9272016" y="2606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SlotAlreadyBookedException — choque de concurrencia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3931920"/>
            <a:ext cx="11018520" cy="1828800"/>
          </a:xfrm>
          <a:prstGeom prst="rect">
            <a:avLst/>
          </a:prstGeom>
          <a:solidFill>
            <a:srgbClr val="F5F9FA"/>
          </a:solidFill>
          <a:ln w="15875">
            <a:solidFill>
              <a:srgbClr val="1B7A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3931920"/>
            <a:ext cx="11018520" cy="384048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71" name="Text 69"/>
          <p:cNvSpPr/>
          <p:nvPr/>
        </p:nvSpPr>
        <p:spPr>
          <a:xfrm>
            <a:off x="658368" y="3931920"/>
            <a:ext cx="10799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 DE NEGOCIO CENTRAL: NO DOBLE RESERVA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13232" y="4434840"/>
            <a:ext cx="10689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BookingService.create() consulta existsBySlotIdAndStatusIn(slotId, [PENDING, APPROVED]) ANTES de guardar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Todo ocurre dentro de una transacción @Transactional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 ya hay una reserva activa sobre el slot → 409, no se crea la reserva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5/9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43000" y="6126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LEGIBILIDAD</a:t>
            </a:r>
            <a:endParaRPr lang="en-US" sz="2500" dirty="0"/>
          </a:p>
        </p:txBody>
      </p:sp>
      <p:sp>
        <p:nvSpPr>
          <p:cNvPr id="54" name="Shape 52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55" name="Text 53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PT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"Código limpio, nombres expresivos, sin duplicación, uso idiomático de Kotlin y buenas prácticas de Spring Boot."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1874520"/>
            <a:ext cx="539496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2983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1874520"/>
            <a:ext cx="5394960" cy="384048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187452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IDIOMÁTICO KOTLIN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13232" y="2377440"/>
            <a:ext cx="50657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Mappers como funciones de extensión: fun BookingRequest.toEntity(...)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Data classes para DTOs, no POJOs con getters/setters manuales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Null-safety explícito: jwt.getClaimAsString("username") ?: subject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172200" y="1874520"/>
            <a:ext cx="539496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1B5A6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1874520"/>
            <a:ext cx="5394960" cy="384048"/>
          </a:xfrm>
          <a:prstGeom prst="rect">
            <a:avLst/>
          </a:prstGeom>
          <a:solidFill>
            <a:srgbClr val="1B5A6E"/>
          </a:solidFill>
          <a:ln/>
        </p:spPr>
      </p:sp>
      <p:sp>
        <p:nvSpPr>
          <p:cNvPr id="63" name="Text 61"/>
          <p:cNvSpPr/>
          <p:nvPr/>
        </p:nvSpPr>
        <p:spPr>
          <a:xfrm>
            <a:off x="6281928" y="187452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DUPLICACIÓN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336792" y="2377440"/>
            <a:ext cx="50657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Un solo punto de verdad para "traer lo propio": findOwnedOrThrow() en BookingService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Nunca se repite el if de propiedad en cada método — se reutiliza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DTOs separados de entities SIEMPRE: ningún controller expone una @Entity directo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6/9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43000" y="6126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2500" dirty="0"/>
          </a:p>
        </p:txBody>
      </p:sp>
      <p:sp>
        <p:nvSpPr>
          <p:cNvPr id="54" name="Shape 52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55" name="Text 53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PT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"Cobertura de la lógica relevante con casos válidos e inválidos. Uso correcto de mocks/stubs y aserciones significativas."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1874520"/>
            <a:ext cx="352044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1B7A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1874520"/>
            <a:ext cx="3520440" cy="384048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187452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CAMINO FELIZ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13232" y="2377440"/>
            <a:ext cx="31912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Crear reserva firma el requester correcto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Listar "mis reservas" filtra por username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Editar y borrar mi propia reserva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251960" y="1874520"/>
            <a:ext cx="352044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51960" y="1874520"/>
            <a:ext cx="352044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3" name="Text 61"/>
          <p:cNvSpPr/>
          <p:nvPr/>
        </p:nvSpPr>
        <p:spPr>
          <a:xfrm>
            <a:off x="4361688" y="187452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PROPIEDAD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416552" y="2377440"/>
            <a:ext cx="31912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puedo ver/editar/borrar la reserva de otro (403)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STAFF SÍ puede ver cualquiera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404 real ≠ 403 (reserva inexistente)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55280" y="1874520"/>
            <a:ext cx="352044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C9840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55280" y="1874520"/>
            <a:ext cx="3520440" cy="384048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67" name="Text 65"/>
          <p:cNvSpPr/>
          <p:nvPr/>
        </p:nvSpPr>
        <p:spPr>
          <a:xfrm>
            <a:off x="8065008" y="187452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CONCURRENCIA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119872" y="2377440"/>
            <a:ext cx="31912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Slot no disponible → rechazo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Slot con reserva activa → 409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mock() de Repository y de RoomsServiceClient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7/9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43000" y="6126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</a:t>
            </a:r>
            <a:endParaRPr lang="en-US" sz="2500" dirty="0"/>
          </a:p>
        </p:txBody>
      </p:sp>
      <p:sp>
        <p:nvSpPr>
          <p:cNvPr id="54" name="Shape 52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55" name="Text 53"/>
          <p:cNvSpPr/>
          <p:nvPr/>
        </p:nvSpPr>
        <p:spPr>
          <a:xfrm>
            <a:off x="9628632" y="658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PT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"Acceso protegido con JWT/Cognito. Públicos/privados bien delimitados. Restricción por rol/permiso. 401/403 adecuados."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48640" y="1874520"/>
            <a:ext cx="539496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2983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1874520"/>
            <a:ext cx="5394960" cy="384048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187452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ROL (SPRING SECURITY)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13232" y="2377440"/>
            <a:ext cx="50657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OAuth2 Resource Server valida el JWT contra el issuer-uri de Cognito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JwtAuthenticationConverter traduce cognito:groups → ROLE_STAFF/ROLE_REQUESTER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hasRole("STAFF") en las rutas administrativas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Sin token → 401 · rol equivocado → 403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172200" y="1874520"/>
            <a:ext cx="5394960" cy="3931920"/>
          </a:xfrm>
          <a:prstGeom prst="rect">
            <a:avLst/>
          </a:prstGeom>
          <a:solidFill>
            <a:srgbClr val="F5F9F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1874520"/>
            <a:ext cx="53949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3" name="Text 61"/>
          <p:cNvSpPr/>
          <p:nvPr/>
        </p:nvSpPr>
        <p:spPr>
          <a:xfrm>
            <a:off x="6281928" y="187452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PROPIEDAD (NUESTRO CÓDIGO)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336792" y="2377440"/>
            <a:ext cx="50657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findOwnedOrThrow() compara requesterUsername contra el JWT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lo hace Spring Security: no sabe de quién es cada fila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Recurso ajeno → 403 vía NotYourBookingException + GlobalExceptionHandler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Autorización COMBINADA: rol Y propiedad, no solo una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8/9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8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40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EN DISEÑO — PENDIENTE VERIFICAR</a:t>
            </a:r>
            <a:endParaRPr lang="en-US" sz="2300" dirty="0"/>
          </a:p>
        </p:txBody>
      </p:sp>
      <p:sp>
        <p:nvSpPr>
          <p:cNvPr id="54" name="Shape 52"/>
          <p:cNvSpPr/>
          <p:nvPr/>
        </p:nvSpPr>
        <p:spPr>
          <a:xfrm>
            <a:off x="640080" y="1737360"/>
            <a:ext cx="1737360" cy="1463040"/>
          </a:xfrm>
          <a:prstGeom prst="rect">
            <a:avLst/>
          </a:prstGeom>
          <a:solidFill>
            <a:srgbClr val="1B5A6E"/>
          </a:solidFill>
          <a:ln w="19050">
            <a:solidFill>
              <a:srgbClr val="1B7A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858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487168" y="1737360"/>
            <a:ext cx="1737360" cy="1463040"/>
          </a:xfrm>
          <a:prstGeom prst="rect">
            <a:avLst/>
          </a:prstGeom>
          <a:solidFill>
            <a:srgbClr val="1B5A6E"/>
          </a:solidFill>
          <a:ln w="19050">
            <a:solidFill>
              <a:srgbClr val="1B7A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87168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2487168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2/2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2532888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334256" y="1737360"/>
            <a:ext cx="1737360" cy="1463040"/>
          </a:xfrm>
          <a:prstGeom prst="rect">
            <a:avLst/>
          </a:prstGeom>
          <a:solidFill>
            <a:srgbClr val="1B5A6E"/>
          </a:solidFill>
          <a:ln w="19050">
            <a:solidFill>
              <a:srgbClr val="1B7A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34256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334256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2/2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4379976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y errores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81344" y="1737360"/>
            <a:ext cx="1737360" cy="1463040"/>
          </a:xfrm>
          <a:prstGeom prst="rect">
            <a:avLst/>
          </a:prstGeom>
          <a:solidFill>
            <a:srgbClr val="1B5A6E"/>
          </a:solidFill>
          <a:ln w="19050">
            <a:solidFill>
              <a:srgbClr val="1B7A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81344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181344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27064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028432" y="1737360"/>
            <a:ext cx="1737360" cy="1463040"/>
          </a:xfrm>
          <a:prstGeom prst="rect">
            <a:avLst/>
          </a:prstGeom>
          <a:solidFill>
            <a:srgbClr val="1B5A6E"/>
          </a:solidFill>
          <a:ln w="19050">
            <a:solidFill>
              <a:srgbClr val="C9840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28432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028432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1/1*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8074152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875520" y="1737360"/>
            <a:ext cx="1737360" cy="1463040"/>
          </a:xfrm>
          <a:prstGeom prst="rect">
            <a:avLst/>
          </a:prstGeom>
          <a:solidFill>
            <a:srgbClr val="1B5A6E"/>
          </a:solidFill>
          <a:ln w="19050">
            <a:solidFill>
              <a:srgbClr val="1B7A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7552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987552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992124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Auth/Authz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40080" y="3429000"/>
            <a:ext cx="10881360" cy="2377440"/>
          </a:xfrm>
          <a:prstGeom prst="rect">
            <a:avLst/>
          </a:prstGeom>
          <a:solidFill>
            <a:srgbClr val="1B5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4400" y="3657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3.5 cuenta como diseñado, no como verificado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914400" y="41148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está ESCRITO y revisado a mano — no compilado ni corrido todavía.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Falta: ./gradlew build en ambos microservicios, tests de rooms-service, configurar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STAFF/REQUESTER y Hosted UI en Cognito, y probar la matriz completa con Postman.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cumple 8/8 en papel; la nota real depende de verificarlo antes de entregar.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RÚBRICA — ARQ.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9/9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2026-07-29T18:37:23Z</dcterms:created>
  <dcterms:modified xsi:type="dcterms:W3CDTF">2026-07-29T18:37:23Z</dcterms:modified>
</cp:coreProperties>
</file>