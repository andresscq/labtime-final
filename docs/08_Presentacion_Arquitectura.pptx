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8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8872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SUSTENTACIÓN DE ARQUITECTURA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4360" y="2560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LabTime</a:t>
            </a:r>
            <a:endParaRPr lang="en-US" sz="5800" dirty="0"/>
          </a:p>
        </p:txBody>
      </p:sp>
      <p:sp>
        <p:nvSpPr>
          <p:cNvPr id="55" name="Text 53"/>
          <p:cNvSpPr/>
          <p:nvPr/>
        </p:nvSpPr>
        <p:spPr>
          <a:xfrm>
            <a:off x="59436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sistema · endpoints clasificados · CRUD por tabla · pruebas unitarias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4360" y="4160520"/>
            <a:ext cx="29260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389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Empresarial · PUCE · Kotlin + Spring Boot 4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rooms-service + bookings-service · AWS Cognito (JWT)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4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Pinduisaca y [Nombre del compañero/a] · NRC 1462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1/7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548640" y="1417320"/>
            <a:ext cx="210312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788920" y="1417320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71800" y="1417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HTTP, extrae el JWT, delega al service. Cero lógica de negocio.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464040" y="141732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946404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BookingController.kt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" y="1947672"/>
            <a:ext cx="2103120" cy="457200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1947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788920" y="1947672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71800" y="19476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lógica de negocio: validaciones, propiedad, transacciones.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464040" y="194767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9464040" y="1947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BookingService.kt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48640" y="2478024"/>
            <a:ext cx="210312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2478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repositories/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2788920" y="2478024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71800" y="247802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JpaRepository. Sin lógica, solo acceso a datos.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9464040" y="2478024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9464040" y="24780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BookingRepository.kt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8640" y="3008376"/>
            <a:ext cx="2103120" cy="457200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" y="3008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entities/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788920" y="3008376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71800" y="300837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@Entity — estructura de la tabla, nada más.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9464040" y="3008376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946404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Booking.kt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48640" y="3538728"/>
            <a:ext cx="210312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79" name="Text 77"/>
          <p:cNvSpPr/>
          <p:nvPr/>
        </p:nvSpPr>
        <p:spPr>
          <a:xfrm>
            <a:off x="548640" y="3538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dto/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2788920" y="3538728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71800" y="35387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Request/Response. Los controllers NUNCA exponen una @Entity directo.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464040" y="3538728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9464040" y="3538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BookingDto.kt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48640" y="4069080"/>
            <a:ext cx="2103120" cy="45720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85" name="Text 83"/>
          <p:cNvSpPr/>
          <p:nvPr/>
        </p:nvSpPr>
        <p:spPr>
          <a:xfrm>
            <a:off x="54864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mappers/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2788920" y="4069080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971800" y="4069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extensión toEntity()/toResponse() — frontera DTO↔Entity.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9464040" y="406908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94640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BookingMapper.kt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48640" y="4599432"/>
            <a:ext cx="21031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9"/>
          <p:cNvSpPr/>
          <p:nvPr/>
        </p:nvSpPr>
        <p:spPr>
          <a:xfrm>
            <a:off x="548640" y="4599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exceptions/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2788920" y="4599432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71800" y="45994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propias + @RestControllerAdvice para respuestas HTTP consistentes.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9464040" y="4599432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95" name="Text 93"/>
          <p:cNvSpPr/>
          <p:nvPr/>
        </p:nvSpPr>
        <p:spPr>
          <a:xfrm>
            <a:off x="9464040" y="45994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GlobalExceptionHandler.kt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48640" y="5129784"/>
            <a:ext cx="21031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7" name="Text 95"/>
          <p:cNvSpPr/>
          <p:nvPr/>
        </p:nvSpPr>
        <p:spPr>
          <a:xfrm>
            <a:off x="548640" y="51297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2788920" y="5129784"/>
            <a:ext cx="6537960" cy="457200"/>
          </a:xfrm>
          <a:prstGeom prst="rect">
            <a:avLst/>
          </a:prstGeom>
          <a:solidFill>
            <a:srgbClr val="F5F9FA"/>
          </a:solidFill>
          <a:ln w="9525">
            <a:solidFill>
              <a:srgbClr val="2983A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71800" y="51297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— validación JWT y reglas de rol por ruta.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9464040" y="5129784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B7480"/>
            </a:solidFill>
            <a:prstDash val="dash"/>
          </a:ln>
        </p:spPr>
      </p:sp>
      <p:sp>
        <p:nvSpPr>
          <p:cNvPr id="101" name="Text 99"/>
          <p:cNvSpPr/>
          <p:nvPr/>
        </p:nvSpPr>
        <p:spPr>
          <a:xfrm>
            <a:off x="9464040" y="5129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SecurityConfig.kt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2/7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FLUYE UNA PETICIÓN PRIVADA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54864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2983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1737360"/>
            <a:ext cx="178308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Cliente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2179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el request con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&lt;JWT&gt;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331720" y="2423160"/>
            <a:ext cx="91440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46888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1B5A6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68880" y="1737360"/>
            <a:ext cx="1783080" cy="365760"/>
          </a:xfrm>
          <a:prstGeom prst="rect">
            <a:avLst/>
          </a:prstGeom>
          <a:solidFill>
            <a:srgbClr val="1B5A6E"/>
          </a:solidFill>
          <a:ln/>
        </p:spPr>
      </p:sp>
      <p:sp>
        <p:nvSpPr>
          <p:cNvPr id="61" name="Text 59"/>
          <p:cNvSpPr/>
          <p:nvPr/>
        </p:nvSpPr>
        <p:spPr>
          <a:xfrm>
            <a:off x="24688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Spring Security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54203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firma, emisor y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expiración del JWT (JWKS)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51960" y="2423160"/>
            <a:ext cx="91440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38912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C984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89120" y="1737360"/>
            <a:ext cx="1783080" cy="36576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66" name="Text 64"/>
          <p:cNvSpPr/>
          <p:nvPr/>
        </p:nvSpPr>
        <p:spPr>
          <a:xfrm>
            <a:off x="438912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hasRole(...)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46227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cognito:groups →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ROLE_STAFF / ROLE_REQUESTER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172200" y="2423160"/>
            <a:ext cx="91440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30936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2983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9360" y="1737360"/>
            <a:ext cx="178308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71" name="Text 69"/>
          <p:cNvSpPr/>
          <p:nvPr/>
        </p:nvSpPr>
        <p:spPr>
          <a:xfrm>
            <a:off x="630936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Controller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638251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username del JWT,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del body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092440" y="2423160"/>
            <a:ext cx="91440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22960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1737360"/>
            <a:ext cx="178308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6" name="Text 74"/>
          <p:cNvSpPr/>
          <p:nvPr/>
        </p:nvSpPr>
        <p:spPr>
          <a:xfrm>
            <a:off x="822960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Service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30275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PROPIEDAD del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(findOwnedOrThrow)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0012680" y="2423160"/>
            <a:ext cx="91440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149840" y="1737360"/>
            <a:ext cx="1783080" cy="1371600"/>
          </a:xfrm>
          <a:prstGeom prst="rect">
            <a:avLst/>
          </a:prstGeom>
          <a:solidFill>
            <a:srgbClr val="F5F9FA"/>
          </a:solidFill>
          <a:ln w="19050">
            <a:solidFill>
              <a:srgbClr val="1B7A4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49840" y="1737360"/>
            <a:ext cx="1783080" cy="36576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81" name="Text 79"/>
          <p:cNvSpPr/>
          <p:nvPr/>
        </p:nvSpPr>
        <p:spPr>
          <a:xfrm>
            <a:off x="1014984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Repository → DB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0222992" y="21488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operación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anterior pasó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48640" y="3520440"/>
            <a:ext cx="11109960" cy="1417320"/>
          </a:xfrm>
          <a:prstGeom prst="rect">
            <a:avLst/>
          </a:prstGeom>
          <a:solidFill>
            <a:srgbClr val="FFF4EC"/>
          </a:solidFill>
          <a:ln w="12700">
            <a:solidFill>
              <a:srgbClr val="C9840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¿DÓNDE SALE CADA ERROR?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7724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no hay token válido. Ni siquiera llega al controller.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98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(rol)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token válido, pero el rol no alcanza para esa ruta.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(propiedad)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token y rol correctos, pero el recurso no es tuyo. Este lo lanza NUESTRO código, no Spring Security.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548640" y="51206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los endpoints públicos (GET /rooms, GET /rooms/{id}/slots/available) se saltan los pasos 2 y 3 — no exigen token.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3/7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POR TABLA</a:t>
            </a:r>
            <a:endParaRPr lang="en-US" sz="2600" dirty="0"/>
          </a:p>
        </p:txBody>
      </p:sp>
      <p:sp>
        <p:nvSpPr>
          <p:cNvPr id="54" name="Shape 52"/>
          <p:cNvSpPr/>
          <p:nvPr/>
        </p:nvSpPr>
        <p:spPr>
          <a:xfrm>
            <a:off x="548640" y="1463040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1463040"/>
            <a:ext cx="2651760" cy="50292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40080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8368" y="2148840"/>
            <a:ext cx="365760" cy="36576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5156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58368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/rooms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658368" y="3108960"/>
            <a:ext cx="36576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63" name="Text 61"/>
          <p:cNvSpPr/>
          <p:nvPr/>
        </p:nvSpPr>
        <p:spPr>
          <a:xfrm>
            <a:off x="6583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05156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58368" y="34930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/rooms, GET /rooms/{id}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58368" y="4069080"/>
            <a:ext cx="365760" cy="36576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051560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58368" y="4453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/rooms/{id}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58368" y="5029200"/>
            <a:ext cx="365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1051560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58368" y="54132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/rooms/{id}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374136" y="1463040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74136" y="1463040"/>
            <a:ext cx="2651760" cy="50292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76" name="Text 74"/>
          <p:cNvSpPr/>
          <p:nvPr/>
        </p:nvSpPr>
        <p:spPr>
          <a:xfrm>
            <a:off x="3465576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time_slots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3465576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483864" y="2148840"/>
            <a:ext cx="365760" cy="36576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79" name="Text 77"/>
          <p:cNvSpPr/>
          <p:nvPr/>
        </p:nvSpPr>
        <p:spPr>
          <a:xfrm>
            <a:off x="348386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3877056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3483864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/slots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3483864" y="3108960"/>
            <a:ext cx="36576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83" name="Text 81"/>
          <p:cNvSpPr/>
          <p:nvPr/>
        </p:nvSpPr>
        <p:spPr>
          <a:xfrm>
            <a:off x="3483864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3877056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3483864" y="34930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/slots/{id}, GET /rooms/{id}/slots/available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3483864" y="4069080"/>
            <a:ext cx="365760" cy="36576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87" name="Text 85"/>
          <p:cNvSpPr/>
          <p:nvPr/>
        </p:nvSpPr>
        <p:spPr>
          <a:xfrm>
            <a:off x="3483864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3877056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3483864" y="4453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/slots/{id}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3483864" y="5029200"/>
            <a:ext cx="365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9"/>
          <p:cNvSpPr/>
          <p:nvPr/>
        </p:nvSpPr>
        <p:spPr>
          <a:xfrm>
            <a:off x="3483864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3877056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3483864" y="54132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/slots/{id}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6199632" y="1463040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9632" y="1463040"/>
            <a:ext cx="2651760" cy="50292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96" name="Text 94"/>
          <p:cNvSpPr/>
          <p:nvPr/>
        </p:nvSpPr>
        <p:spPr>
          <a:xfrm>
            <a:off x="6291072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6291072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(+ dueño)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309360" y="2148840"/>
            <a:ext cx="365760" cy="36576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99" name="Text 97"/>
          <p:cNvSpPr/>
          <p:nvPr/>
        </p:nvSpPr>
        <p:spPr>
          <a:xfrm>
            <a:off x="6309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6702552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6309360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/bookings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6309360" y="3108960"/>
            <a:ext cx="36576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103" name="Text 101"/>
          <p:cNvSpPr/>
          <p:nvPr/>
        </p:nvSpPr>
        <p:spPr>
          <a:xfrm>
            <a:off x="6309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104" name="Text 102"/>
          <p:cNvSpPr/>
          <p:nvPr/>
        </p:nvSpPr>
        <p:spPr>
          <a:xfrm>
            <a:off x="6702552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6309360" y="34930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/bookings/me, GET /bookings/{id}, GET /bookings (STAFF)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6309360" y="4069080"/>
            <a:ext cx="365760" cy="36576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107" name="Text 105"/>
          <p:cNvSpPr/>
          <p:nvPr/>
        </p:nvSpPr>
        <p:spPr>
          <a:xfrm>
            <a:off x="63093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108" name="Text 106"/>
          <p:cNvSpPr/>
          <p:nvPr/>
        </p:nvSpPr>
        <p:spPr>
          <a:xfrm>
            <a:off x="6702552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6309360" y="4453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/bookings/{id}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6309360" y="5029200"/>
            <a:ext cx="365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1" name="Text 109"/>
          <p:cNvSpPr/>
          <p:nvPr/>
        </p:nvSpPr>
        <p:spPr>
          <a:xfrm>
            <a:off x="630936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112" name="Text 110"/>
          <p:cNvSpPr/>
          <p:nvPr/>
        </p:nvSpPr>
        <p:spPr>
          <a:xfrm>
            <a:off x="6702552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309360" y="54132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/bookings/{id}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9025128" y="1463040"/>
            <a:ext cx="26517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025128" y="1463040"/>
            <a:ext cx="2651760" cy="50292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116" name="Text 114"/>
          <p:cNvSpPr/>
          <p:nvPr/>
        </p:nvSpPr>
        <p:spPr>
          <a:xfrm>
            <a:off x="9116568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equipment_requests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9116568" y="18013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(+ dueño)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9134856" y="2148840"/>
            <a:ext cx="365760" cy="36576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119" name="Text 117"/>
          <p:cNvSpPr/>
          <p:nvPr/>
        </p:nvSpPr>
        <p:spPr>
          <a:xfrm>
            <a:off x="913485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20" name="Text 118"/>
          <p:cNvSpPr/>
          <p:nvPr/>
        </p:nvSpPr>
        <p:spPr>
          <a:xfrm>
            <a:off x="9528048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9134856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/equipment-requests</a:t>
            </a:r>
            <a:endParaRPr lang="en-US" sz="780" dirty="0"/>
          </a:p>
        </p:txBody>
      </p:sp>
      <p:sp>
        <p:nvSpPr>
          <p:cNvPr id="122" name="Shape 120"/>
          <p:cNvSpPr/>
          <p:nvPr/>
        </p:nvSpPr>
        <p:spPr>
          <a:xfrm>
            <a:off x="9134856" y="3108960"/>
            <a:ext cx="365760" cy="36576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123" name="Text 121"/>
          <p:cNvSpPr/>
          <p:nvPr/>
        </p:nvSpPr>
        <p:spPr>
          <a:xfrm>
            <a:off x="9134856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124" name="Text 122"/>
          <p:cNvSpPr/>
          <p:nvPr/>
        </p:nvSpPr>
        <p:spPr>
          <a:xfrm>
            <a:off x="9528048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9134856" y="349300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/equipment-requests/booking/{id}</a:t>
            </a:r>
            <a:endParaRPr lang="en-US" sz="780" dirty="0"/>
          </a:p>
        </p:txBody>
      </p:sp>
      <p:sp>
        <p:nvSpPr>
          <p:cNvPr id="126" name="Shape 124"/>
          <p:cNvSpPr/>
          <p:nvPr/>
        </p:nvSpPr>
        <p:spPr>
          <a:xfrm>
            <a:off x="9134856" y="4069080"/>
            <a:ext cx="365760" cy="36576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27" name="Text 125"/>
          <p:cNvSpPr/>
          <p:nvPr/>
        </p:nvSpPr>
        <p:spPr>
          <a:xfrm>
            <a:off x="9134856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128" name="Text 126"/>
          <p:cNvSpPr/>
          <p:nvPr/>
        </p:nvSpPr>
        <p:spPr>
          <a:xfrm>
            <a:off x="9528048" y="4069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9134856" y="44531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(no aplica: se borra y se vuelve a pedir)</a:t>
            </a:r>
            <a:endParaRPr lang="en-US" sz="780" dirty="0"/>
          </a:p>
        </p:txBody>
      </p:sp>
      <p:sp>
        <p:nvSpPr>
          <p:cNvPr id="130" name="Shape 128"/>
          <p:cNvSpPr/>
          <p:nvPr/>
        </p:nvSpPr>
        <p:spPr>
          <a:xfrm>
            <a:off x="9134856" y="5029200"/>
            <a:ext cx="365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1" name="Text 129"/>
          <p:cNvSpPr/>
          <p:nvPr/>
        </p:nvSpPr>
        <p:spPr>
          <a:xfrm>
            <a:off x="9134856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132" name="Text 130"/>
          <p:cNvSpPr/>
          <p:nvPr/>
        </p:nvSpPr>
        <p:spPr>
          <a:xfrm>
            <a:off x="9528048" y="5029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9134856" y="54132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/equipment-requests/{id}</a:t>
            </a:r>
            <a:endParaRPr lang="en-US" sz="780" dirty="0"/>
          </a:p>
        </p:txBody>
      </p:sp>
      <p:sp>
        <p:nvSpPr>
          <p:cNvPr id="134" name="Text 132"/>
          <p:cNvSpPr/>
          <p:nvPr/>
        </p:nvSpPr>
        <p:spPr>
          <a:xfrm>
            <a:off x="548640" y="5806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equipment_requests no tiene Update por diseño: una solicitud de equipo se reemplaza (borrar + crear de nuevo), no se edita — es una decisión de negocio, no una omisión.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4/7</a:t>
            </a:r>
            <a:endParaRPr lang="en-US" sz="1200" dirty="0"/>
          </a:p>
        </p:txBody>
      </p:sp>
      <p:sp>
        <p:nvSpPr>
          <p:cNvPr id="143" name="Text 141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CLASIFICADOS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1371600"/>
                <a:gridCol w="2423160"/>
                <a:gridCol w="18288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MÉTODO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 / REGLA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3A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98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/rooms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98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/rooms/{id}/slots/available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 PUT / DELETE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/rooms/{id}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 PUT / DELETE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/slots/{id}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/bookings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98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/bookings/me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 DELETE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/bookings/{id}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 + dueño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98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/bookings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/bookings/{id}/approve · /attended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7A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 DELETE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/equipment-requests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4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REQUESTER + dueño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74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bookings-service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83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</a:tbl>
          </a:graphicData>
        </a:graphic>
      </p:graphicFrame>
      <p:sp>
        <p:nvSpPr>
          <p:cNvPr id="55" name="Shape 52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5/7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2983A0">
                <a:alpha val="7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2983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2983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B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BookingServiceTest.kt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mocks de BookingRepository y RoomsServiceClient (Mockito-Kotlin), sin tocar BD ni red real.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1965960"/>
            <a:ext cx="2697480" cy="3017520"/>
          </a:xfrm>
          <a:prstGeom prst="rect">
            <a:avLst/>
          </a:prstGeom>
          <a:solidFill>
            <a:srgbClr val="F5F9FA"/>
          </a:solidFill>
          <a:ln w="15875">
            <a:solidFill>
              <a:srgbClr val="1B7A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solidFill>
            <a:srgbClr val="1B7A45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Camino feliz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5800" y="26060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Crear reserva firma el requester correcto y confirma el slot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Listar "mis reservas" consulta SOLO por mi username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Puedo editar y borrar mi propia reserva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19856" y="1965960"/>
            <a:ext cx="2697480" cy="3017520"/>
          </a:xfrm>
          <a:prstGeom prst="rect">
            <a:avLst/>
          </a:prstGeom>
          <a:solidFill>
            <a:srgbClr val="F5F9FA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19856" y="1965960"/>
            <a:ext cx="269748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1" name="Text 59"/>
          <p:cNvSpPr/>
          <p:nvPr/>
        </p:nvSpPr>
        <p:spPr>
          <a:xfrm>
            <a:off x="3511296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Autorización por propiedad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557016" y="26060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puedo ver la reserva de otro usuario (403)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STAFF SÍ puede ver la reserva de cualquiera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puedo editar ni borrar la reserva de otro (403)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91072" y="1965960"/>
            <a:ext cx="2697480" cy="3017520"/>
          </a:xfrm>
          <a:prstGeom prst="rect">
            <a:avLst/>
          </a:prstGeom>
          <a:solidFill>
            <a:srgbClr val="F5F9FA"/>
          </a:solidFill>
          <a:ln w="15875">
            <a:solidFill>
              <a:srgbClr val="2983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91072" y="1965960"/>
            <a:ext cx="2697480" cy="502920"/>
          </a:xfrm>
          <a:prstGeom prst="rect">
            <a:avLst/>
          </a:prstGeom>
          <a:solidFill>
            <a:srgbClr val="2983A0"/>
          </a:solidFill>
          <a:ln/>
        </p:spPr>
      </p:sp>
      <p:sp>
        <p:nvSpPr>
          <p:cNvPr id="65" name="Text 63"/>
          <p:cNvSpPr/>
          <p:nvPr/>
        </p:nvSpPr>
        <p:spPr>
          <a:xfrm>
            <a:off x="6382512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real (no confundir con 403)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28232" y="26060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Una reserva que no existe da 404, no 403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162288" y="1965960"/>
            <a:ext cx="2697480" cy="3017520"/>
          </a:xfrm>
          <a:prstGeom prst="rect">
            <a:avLst/>
          </a:prstGeom>
          <a:solidFill>
            <a:srgbClr val="F5F9FA"/>
          </a:solidFill>
          <a:ln w="15875">
            <a:solidFill>
              <a:srgbClr val="C9840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288" y="1965960"/>
            <a:ext cx="2697480" cy="502920"/>
          </a:xfrm>
          <a:prstGeom prst="rect">
            <a:avLst/>
          </a:prstGeom>
          <a:solidFill>
            <a:srgbClr val="C9840A"/>
          </a:solidFill>
          <a:ln/>
        </p:spPr>
      </p:sp>
      <p:sp>
        <p:nvSpPr>
          <p:cNvPr id="69" name="Text 67"/>
          <p:cNvSpPr/>
          <p:nvPr/>
        </p:nvSpPr>
        <p:spPr>
          <a:xfrm>
            <a:off x="9253728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Concurrencia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299448" y="26060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se puede reservar un slot ya no disponible (400)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NO se puede reservar un slot con reserva activa (409)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" y="5166360"/>
            <a:ext cx="11109960" cy="548640"/>
          </a:xfrm>
          <a:prstGeom prst="rect">
            <a:avLst/>
          </a:prstGeom>
          <a:solidFill>
            <a:srgbClr val="FFF4EC"/>
          </a:solidFill>
          <a:ln w="12700">
            <a:solidFill>
              <a:srgbClr val="C9840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4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 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RoomServiceTest y TimeSlotServiceTest en rooms-service — mismo patrón, todavía no escritos.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6/7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83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784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356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040" y="320040"/>
            <a:ext cx="0" cy="621792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0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777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234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1691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148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606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63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520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4348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8920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3492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58064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6263640"/>
            <a:ext cx="11548872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22608" y="32004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868912" y="17373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22608" y="6537960"/>
            <a:ext cx="29260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8912" y="6391656"/>
            <a:ext cx="0" cy="29260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40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ARQUITECTURA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640080" y="1600200"/>
            <a:ext cx="5212080" cy="4206240"/>
          </a:xfrm>
          <a:prstGeom prst="rect">
            <a:avLst/>
          </a:prstGeom>
          <a:solidFill>
            <a:srgbClr val="1B5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YA FUNCIONA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capas consistentes en los 2 microservicios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 clasificados público/privado/rol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en 3 de 4 tablas (U no aplica en equipment_requests por diseño)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por rol Y por propiedad, cada una con su propio punto de falla (401/403/403)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 unitarios cubriendo camino feliz, propiedad y concurrencia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080760" y="1600200"/>
            <a:ext cx="5303520" cy="4206240"/>
          </a:xfrm>
          <a:prstGeom prst="rect">
            <a:avLst/>
          </a:prstGeom>
          <a:solidFill>
            <a:srgbClr val="1B5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7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 ANTES DE ENTREGAR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Compilar los 2 microservicios (./gradlew build) — nunca se corrió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Tests de RoomService / TimeSlotService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Configurar grupos STAFF/REQUESTER y Hosted UI en Cognito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Restricción UNIQUE real en BD para concurrencia (hoy solo a nivel de service)
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Probar cada fila de la matriz con Postman (401/403/200 en vivo)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577072" y="5971032"/>
            <a:ext cx="3291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3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8875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28832" y="5971032"/>
            <a:ext cx="0" cy="566928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77072" y="6254496"/>
            <a:ext cx="2011680" cy="0"/>
          </a:xfrm>
          <a:prstGeom prst="line">
            <a:avLst/>
          </a:prstGeom>
          <a:noFill/>
          <a:ln w="9525">
            <a:solidFill>
              <a:srgbClr val="2983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31936" y="597103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631936" y="62544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LABTIME — BACKEND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60704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LÁMINA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10607040" y="6236208"/>
            <a:ext cx="603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7/7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247120" y="5971032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1228832" y="6236208"/>
            <a:ext cx="621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5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29/07/26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2026-07-29T18:07:15Z</dcterms:created>
  <dcterms:modified xsi:type="dcterms:W3CDTF">2026-07-29T18:07:15Z</dcterms:modified>
</cp:coreProperties>
</file>